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39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FFFFFF"/>
    <a:srgbClr val="EFF3F7"/>
    <a:srgbClr val="F2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  <a:fill>
          <a:solidFill>
            <a:schemeClr val="accent2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  <a:fill>
          <a:solidFill>
            <a:schemeClr val="accent5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  <a:fill>
          <a:solidFill>
            <a:schemeClr val="accent6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58"/>
    <p:restoredTop sz="94658"/>
  </p:normalViewPr>
  <p:slideViewPr>
    <p:cSldViewPr snapToGrid="0">
      <p:cViewPr varScale="1">
        <p:scale>
          <a:sx n="115" d="100"/>
          <a:sy n="115" d="100"/>
        </p:scale>
        <p:origin x="3968" y="496"/>
      </p:cViewPr>
      <p:guideLst>
        <p:guide pos="3840"/>
        <p:guide orient="horz" pos="2160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14223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656176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7888019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391476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437590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78720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Disposition personnalisé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85548353" name="Groupe 2"/>
          <p:cNvGrpSpPr/>
          <p:nvPr userDrawn="1"/>
        </p:nvGrpSpPr>
        <p:grpSpPr bwMode="auto">
          <a:xfrm rot="10800000" flipH="1">
            <a:off x="10617516" y="1241468"/>
            <a:ext cx="745921" cy="1204125"/>
            <a:chOff x="10211504" y="1954198"/>
            <a:chExt cx="898661" cy="1455208"/>
          </a:xfrm>
          <a:solidFill>
            <a:schemeClr val="bg1"/>
          </a:solidFill>
        </p:grpSpPr>
        <p:sp>
          <p:nvSpPr>
            <p:cNvPr id="4" name="Ellipse 3"/>
            <p:cNvSpPr/>
            <p:nvPr/>
          </p:nvSpPr>
          <p:spPr bwMode="auto">
            <a:xfrm rot="10800000">
              <a:off x="10211504" y="1954198"/>
              <a:ext cx="275397" cy="2821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5" name="Rectangle 4"/>
            <p:cNvSpPr/>
            <p:nvPr/>
          </p:nvSpPr>
          <p:spPr bwMode="auto">
            <a:xfrm rot="10800000">
              <a:off x="11027961" y="2847022"/>
              <a:ext cx="82204" cy="5623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" name="Rectangle 5"/>
            <p:cNvSpPr/>
            <p:nvPr/>
          </p:nvSpPr>
          <p:spPr bwMode="auto">
            <a:xfrm rot="8215894">
              <a:off x="10691582" y="1993282"/>
              <a:ext cx="82204" cy="10176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415842668" name="Groupe 6"/>
          <p:cNvGrpSpPr/>
          <p:nvPr userDrawn="1"/>
        </p:nvGrpSpPr>
        <p:grpSpPr bwMode="auto">
          <a:xfrm rot="10800000" flipH="1">
            <a:off x="11039181" y="1241467"/>
            <a:ext cx="781680" cy="1562184"/>
            <a:chOff x="10168424" y="1910056"/>
            <a:chExt cx="941741" cy="1887928"/>
          </a:xfrm>
          <a:solidFill>
            <a:schemeClr val="bg1"/>
          </a:solidFill>
        </p:grpSpPr>
        <p:sp>
          <p:nvSpPr>
            <p:cNvPr id="8" name="Ellipse 7"/>
            <p:cNvSpPr/>
            <p:nvPr/>
          </p:nvSpPr>
          <p:spPr bwMode="auto">
            <a:xfrm rot="10800000">
              <a:off x="10168424" y="1910056"/>
              <a:ext cx="318477" cy="32633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" name="Rectangle 8"/>
            <p:cNvSpPr/>
            <p:nvPr/>
          </p:nvSpPr>
          <p:spPr bwMode="auto">
            <a:xfrm rot="10800000">
              <a:off x="11027961" y="2847020"/>
              <a:ext cx="82204" cy="9509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" name="Rectangle 9"/>
            <p:cNvSpPr/>
            <p:nvPr/>
          </p:nvSpPr>
          <p:spPr bwMode="auto">
            <a:xfrm rot="8215894">
              <a:off x="10691582" y="1993282"/>
              <a:ext cx="82204" cy="10176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pic>
        <p:nvPicPr>
          <p:cNvPr id="2" name="Image 1" descr="Une image contenant dessin humoristique, smiley, émoticône&#10;&#10;Le contenu généré par l’IA peut être incorrect.">
            <a:extLst>
              <a:ext uri="{FF2B5EF4-FFF2-40B4-BE49-F238E27FC236}">
                <a16:creationId xmlns:a16="http://schemas.microsoft.com/office/drawing/2014/main" id="{F01368AF-42A1-DC9A-A258-D2FF5E8334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39691"/>
            <a:ext cx="1018309" cy="101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0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77662" y="2130426"/>
            <a:ext cx="8299938" cy="1470025"/>
          </a:xfrm>
        </p:spPr>
        <p:txBody>
          <a:bodyPr/>
          <a:lstStyle>
            <a:lvl1pPr>
              <a:defRPr>
                <a:latin typeface="Marian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Marianne" panose="020000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Image 4" descr="Une image contenant dessin humoristique, smiley, émoticône&#10;&#10;Le contenu généré par l’IA peut être incorrect.">
            <a:extLst>
              <a:ext uri="{FF2B5EF4-FFF2-40B4-BE49-F238E27FC236}">
                <a16:creationId xmlns:a16="http://schemas.microsoft.com/office/drawing/2014/main" id="{B2519EE3-BF8B-3F35-6F3C-2AEF3B409A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00" y="1800225"/>
            <a:ext cx="3257549" cy="325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1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EFFE41C9-0429-D3C2-B05C-5FAAACF28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062" y="189278"/>
            <a:ext cx="9120553" cy="631337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0070C0"/>
                </a:solidFill>
                <a:latin typeface="Marianne" panose="02000000000000000000" pitchFamily="2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8E48B3-1A58-21A8-CA17-9A5BA1004412}"/>
              </a:ext>
            </a:extLst>
          </p:cNvPr>
          <p:cNvSpPr/>
          <p:nvPr userDrawn="1"/>
        </p:nvSpPr>
        <p:spPr>
          <a:xfrm>
            <a:off x="157018" y="1126837"/>
            <a:ext cx="11877964" cy="5209309"/>
          </a:xfrm>
          <a:prstGeom prst="rect">
            <a:avLst/>
          </a:prstGeom>
          <a:gradFill>
            <a:gsLst>
              <a:gs pos="0">
                <a:srgbClr val="FCFCFC"/>
              </a:gs>
              <a:gs pos="100000">
                <a:srgbClr val="EFF3F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Une image contenant dessin humoristique, smiley, émoticône&#10;&#10;Le contenu généré par l’IA peut être incorrect.">
            <a:extLst>
              <a:ext uri="{FF2B5EF4-FFF2-40B4-BE49-F238E27FC236}">
                <a16:creationId xmlns:a16="http://schemas.microsoft.com/office/drawing/2014/main" id="{E6ADA5BB-175D-AAB9-55A7-947256658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5839691"/>
            <a:ext cx="1018309" cy="101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4199641" name="Image 7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0930115" y="368300"/>
            <a:ext cx="870649" cy="472085"/>
          </a:xfrm>
          <a:prstGeom prst="rect">
            <a:avLst/>
          </a:prstGeom>
        </p:spPr>
      </p:pic>
      <p:pic>
        <p:nvPicPr>
          <p:cNvPr id="1252485885" name="Image 8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66117" y="124798"/>
            <a:ext cx="1166492" cy="8895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9" r:id="rId2"/>
    <p:sldLayoutId id="2147483740" r:id="rId3"/>
  </p:sldLayoutIdLst>
  <p:hf sldNum="0"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 Planning - Synthèse générale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Template prêt à alimenter automatiquement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VUE D'ENSEMBLE DU PI À VENIR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2062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Informations clés PI</a:t>
            </a:r>
          </a:p>
          <a:p>
            <a:pPr lvl="1">
              <a:defRPr sz="1400"/>
            </a:pPr>
            <a:r>
              <a:t>Nom / numéro PI</a:t>
            </a:r>
          </a:p>
          <a:p>
            <a:pPr lvl="1">
              <a:defRPr sz="1400"/>
            </a:pPr>
            <a:r>
              <a:t>Période</a:t>
            </a:r>
          </a:p>
          <a:p>
            <a:pPr lvl="1">
              <a:defRPr sz="1400"/>
            </a:pPr>
            <a:r>
              <a:t>Objectif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931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Statistiques</a:t>
            </a:r>
          </a:p>
          <a:p>
            <a:pPr lvl="1">
              <a:defRPr sz="1400"/>
            </a:pPr>
            <a:r>
              <a:t>Nombre d'équipes</a:t>
            </a:r>
          </a:p>
          <a:p>
            <a:pPr lvl="1">
              <a:defRPr sz="1400"/>
            </a:pPr>
            <a:r>
              <a:t>Nombre d'epics</a:t>
            </a:r>
          </a:p>
          <a:p>
            <a:pPr lvl="1">
              <a:defRPr sz="1400"/>
            </a:pPr>
            <a:r>
              <a:t>Nombre de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2654104"/>
            <a:ext cx="11055320" cy="3523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 b="1"/>
            </a:pPr>
            <a:r>
              <a:rPr dirty="0"/>
              <a:t>Population </a:t>
            </a:r>
            <a:r>
              <a:rPr dirty="0" err="1"/>
              <a:t>d'agents</a:t>
            </a:r>
            <a:endParaRPr dirty="0"/>
          </a:p>
          <a:p>
            <a:pPr lvl="1">
              <a:defRPr sz="1400"/>
            </a:pPr>
            <a:r>
              <a:rPr dirty="0"/>
              <a:t>Nombre total </a:t>
            </a:r>
            <a:r>
              <a:rPr dirty="0" err="1"/>
              <a:t>d'agents</a:t>
            </a:r>
            <a:endParaRPr dirty="0"/>
          </a:p>
          <a:p>
            <a:pPr lvl="1">
              <a:defRPr sz="1400"/>
            </a:pPr>
            <a:r>
              <a:rPr dirty="0" err="1"/>
              <a:t>Répartition</a:t>
            </a:r>
            <a:r>
              <a:rPr dirty="0"/>
              <a:t> par équipe</a:t>
            </a:r>
          </a:p>
          <a:p>
            <a:pPr lvl="1">
              <a:defRPr sz="1400"/>
            </a:pPr>
            <a:r>
              <a:rPr dirty="0"/>
              <a:t>Charge </a:t>
            </a:r>
            <a:r>
              <a:rPr dirty="0" err="1"/>
              <a:t>agrégée</a:t>
            </a:r>
            <a:r>
              <a:rPr dirty="0"/>
              <a:t> (%)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AGENTS AVEC FRAGMENTATION D'AFFECTATION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6062" y="691376"/>
            <a:ext cx="10269986" cy="47950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000" b="1"/>
            </a:pPr>
            <a:r>
              <a:rPr dirty="0"/>
              <a:t>Critères de fragmentation</a:t>
            </a:r>
            <a:r>
              <a:rPr lang="fr-FR" dirty="0"/>
              <a:t> : </a:t>
            </a:r>
            <a:r>
              <a:rPr dirty="0"/>
              <a:t>Multi-équipes</a:t>
            </a:r>
            <a:r>
              <a:rPr lang="fr-FR" dirty="0"/>
              <a:t> </a:t>
            </a:r>
            <a:r>
              <a:rPr dirty="0"/>
              <a:t>Multi-epics</a:t>
            </a:r>
            <a:r>
              <a:rPr lang="fr-FR" dirty="0"/>
              <a:t> </a:t>
            </a:r>
            <a:r>
              <a:rPr dirty="0"/>
              <a:t>Charge </a:t>
            </a:r>
            <a:r>
              <a:rPr dirty="0" err="1"/>
              <a:t>totale</a:t>
            </a:r>
            <a:r>
              <a:rPr dirty="0"/>
              <a:t> &gt;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5316" y="1322712"/>
            <a:ext cx="11530732" cy="484391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 b="1"/>
            </a:pPr>
            <a:r>
              <a:rPr dirty="0" err="1"/>
              <a:t>Liste</a:t>
            </a:r>
            <a:r>
              <a:rPr dirty="0"/>
              <a:t> des agents </a:t>
            </a:r>
            <a:r>
              <a:rPr dirty="0" err="1"/>
              <a:t>concernés</a:t>
            </a:r>
            <a:endParaRPr dirty="0"/>
          </a:p>
          <a:p>
            <a:pPr lvl="1">
              <a:defRPr sz="1400"/>
            </a:pPr>
            <a:r>
              <a:rPr dirty="0"/>
              <a:t>Nom agent - équipe(s) - epic(s) - charge (%)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AGENTS AVEC FAIBLE AFFECTATION (&lt;10%)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Périmètre</a:t>
            </a:r>
          </a:p>
          <a:p>
            <a:pPr lvl="1">
              <a:defRPr sz="1400"/>
            </a:pPr>
            <a:r>
              <a:t>Agents dont la charge totale est strictement inférieure à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19"/>
            <a:ext cx="11155680" cy="3227163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000" b="1"/>
            </a:pPr>
            <a:r>
              <a:rPr dirty="0" err="1"/>
              <a:t>Liste</a:t>
            </a:r>
            <a:r>
              <a:rPr dirty="0"/>
              <a:t> des agents </a:t>
            </a:r>
            <a:r>
              <a:rPr dirty="0" err="1"/>
              <a:t>concernés</a:t>
            </a:r>
            <a:endParaRPr dirty="0"/>
          </a:p>
          <a:p>
            <a:pPr lvl="1">
              <a:defRPr sz="1400"/>
            </a:pPr>
            <a:r>
              <a:rPr dirty="0"/>
              <a:t>Nom agent - équipe </a:t>
            </a:r>
            <a:r>
              <a:rPr dirty="0" err="1"/>
              <a:t>principale</a:t>
            </a:r>
            <a:r>
              <a:rPr dirty="0"/>
              <a:t> - charge (%)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ÉQUIPE - [NOM ÉQUIPE]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2062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Identité d'équipe</a:t>
            </a:r>
          </a:p>
          <a:p>
            <a:pPr lvl="1">
              <a:defRPr sz="1400"/>
            </a:pPr>
            <a:r>
              <a:t>PM / PO</a:t>
            </a:r>
          </a:p>
          <a:p>
            <a:pPr lvl="1">
              <a:defRPr sz="1400"/>
            </a:pPr>
            <a:r>
              <a:t>Nombre d'agents</a:t>
            </a:r>
          </a:p>
          <a:p>
            <a:pPr lvl="1">
              <a:defRPr sz="1400"/>
            </a:pPr>
            <a:r>
              <a:t>Epics associées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931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Contexte</a:t>
            </a:r>
          </a:p>
          <a:p>
            <a:pPr lvl="1">
              <a:defRPr sz="1400"/>
            </a:pPr>
            <a:r>
              <a:t>Points de vigilance</a:t>
            </a:r>
          </a:p>
          <a:p>
            <a:pPr lvl="1">
              <a:defRPr sz="1400"/>
            </a:pPr>
            <a:r>
              <a:t>Dépendances majeures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4104"/>
            <a:ext cx="11122226" cy="3512519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000" b="1"/>
            </a:pPr>
            <a:r>
              <a:t>Synthèse équipe</a:t>
            </a:r>
          </a:p>
          <a:p>
            <a:pPr lvl="1">
              <a:defRPr sz="1400"/>
            </a:pPr>
            <a:r>
              <a:t>Résumé exécutable sur le 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62" y="245033"/>
            <a:ext cx="9120553" cy="631337"/>
          </a:xfrm>
        </p:spPr>
        <p:txBody>
          <a:bodyPr/>
          <a:lstStyle/>
          <a:p>
            <a:r>
              <a:rPr lang="fr-FR" sz="2000" dirty="0"/>
              <a:t>FINALITÉS ET AMBITION DU PIP - [NOM ÉQUIPE / EPIC]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59"/>
            <a:ext cx="11267192" cy="17975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 b="1"/>
            </a:pPr>
            <a:r>
              <a:t>Finalités</a:t>
            </a:r>
          </a:p>
          <a:p>
            <a:pPr lvl="1">
              <a:defRPr sz="1400"/>
            </a:pPr>
            <a:r>
              <a:t>Pourquoi</a:t>
            </a:r>
          </a:p>
          <a:p>
            <a:pPr lvl="1">
              <a:defRPr sz="1400"/>
            </a:pPr>
            <a:r>
              <a:t>Valeur attendue</a:t>
            </a:r>
          </a:p>
          <a:p>
            <a:pPr lvl="1">
              <a:defRPr sz="1400"/>
            </a:pPr>
            <a:r>
              <a:t>Bénéfices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78459"/>
            <a:ext cx="11155681" cy="30108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 b="1"/>
            </a:pPr>
            <a:r>
              <a:rPr dirty="0"/>
              <a:t>Ambition du PIP</a:t>
            </a:r>
          </a:p>
          <a:p>
            <a:pPr lvl="1">
              <a:defRPr sz="1400"/>
            </a:pPr>
            <a:r>
              <a:rPr dirty="0" err="1"/>
              <a:t>Résultat</a:t>
            </a:r>
            <a:r>
              <a:rPr dirty="0"/>
              <a:t> </a:t>
            </a:r>
            <a:r>
              <a:rPr dirty="0" err="1"/>
              <a:t>cible</a:t>
            </a:r>
            <a:r>
              <a:rPr dirty="0"/>
              <a:t> du PI</a:t>
            </a:r>
          </a:p>
          <a:p>
            <a:pPr lvl="1">
              <a:defRPr sz="1400"/>
            </a:pPr>
            <a:r>
              <a:rPr dirty="0"/>
              <a:t>Critères de succès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779" y="245034"/>
            <a:ext cx="9120553" cy="631337"/>
          </a:xfrm>
        </p:spPr>
        <p:txBody>
          <a:bodyPr/>
          <a:lstStyle/>
          <a:p>
            <a:r>
              <a:rPr lang="fr-FR" sz="2000" dirty="0"/>
              <a:t>FEATURES - [NOM ÉQUIPE / EPIC]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1280160"/>
            <a:ext cx="11111075" cy="48418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000" b="1"/>
            </a:pPr>
            <a:r>
              <a:rPr dirty="0"/>
              <a:t>Backlog features PI</a:t>
            </a:r>
          </a:p>
          <a:p>
            <a:pPr lvl="1">
              <a:defRPr sz="1400"/>
            </a:pPr>
            <a:r>
              <a:rPr dirty="0"/>
              <a:t>Feature 1 - </a:t>
            </a:r>
            <a:r>
              <a:rPr dirty="0" err="1"/>
              <a:t>statut</a:t>
            </a:r>
            <a:r>
              <a:rPr dirty="0"/>
              <a:t> - owner</a:t>
            </a:r>
          </a:p>
          <a:p>
            <a:pPr lvl="1">
              <a:defRPr sz="1400"/>
            </a:pPr>
            <a:r>
              <a:rPr dirty="0"/>
              <a:t>Feature 2 - </a:t>
            </a:r>
            <a:r>
              <a:rPr dirty="0" err="1"/>
              <a:t>statut</a:t>
            </a:r>
            <a:r>
              <a:rPr dirty="0"/>
              <a:t> - owner</a:t>
            </a:r>
          </a:p>
          <a:p>
            <a:pPr lvl="1">
              <a:defRPr sz="1400"/>
            </a:pPr>
            <a:r>
              <a:rPr dirty="0"/>
              <a:t>Feature 3 - </a:t>
            </a:r>
            <a:r>
              <a:rPr dirty="0" err="1"/>
              <a:t>statut</a:t>
            </a:r>
            <a:r>
              <a:rPr dirty="0"/>
              <a:t> - owner</a:t>
            </a:r>
          </a:p>
          <a:p>
            <a:pPr lvl="1">
              <a:defRPr sz="1400"/>
            </a:pPr>
            <a:r>
              <a:rPr dirty="0"/>
              <a:t>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Diapositive vier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emière page tit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2402</TotalTime>
  <Words>196</Words>
  <Application>Microsoft Macintosh PowerPoint</Application>
  <DocSecurity>0</DocSecurity>
  <PresentationFormat>Grand écran</PresentationFormat>
  <Paragraphs>48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Marianne</vt:lpstr>
      <vt:lpstr>4_Diapositive vierge</vt:lpstr>
      <vt:lpstr>PI Planning - Synthèse générale</vt:lpstr>
      <vt:lpstr>VUE D'ENSEMBLE DU PI À VENIR</vt:lpstr>
      <vt:lpstr>AGENTS AVEC FRAGMENTATION D'AFFECTATION</vt:lpstr>
      <vt:lpstr>AGENTS AVEC FAIBLE AFFECTATION (&lt;10%)</vt:lpstr>
      <vt:lpstr>ÉQUIPE - [NOM ÉQUIPE]</vt:lpstr>
      <vt:lpstr>FINALITÉS ET AMBITION DU PIP - [NOM ÉQUIPE / EPIC]</vt:lpstr>
      <vt:lpstr>FEATURES - [NOM ÉQUIPE / EPIC]</vt:lpstr>
    </vt:vector>
  </TitlesOfParts>
  <Manager/>
  <Company>DSIC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SALAH Ilias</dc:creator>
  <cp:keywords/>
  <dc:description/>
  <cp:lastModifiedBy>Eric TIQUET</cp:lastModifiedBy>
  <cp:revision>376</cp:revision>
  <dcterms:created xsi:type="dcterms:W3CDTF">2024-04-18T14:17:38Z</dcterms:created>
  <dcterms:modified xsi:type="dcterms:W3CDTF">2026-02-22T21:57:16Z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df9db-8b10-49ea-948f-f7d79516c205_Enabled">
    <vt:lpwstr>true</vt:lpwstr>
  </property>
  <property fmtid="{D5CDD505-2E9C-101B-9397-08002B2CF9AE}" pid="3" name="MSIP_Label_2a5df9db-8b10-49ea-948f-f7d79516c205_SetDate">
    <vt:lpwstr>2025-11-24T10:24:03Z</vt:lpwstr>
  </property>
  <property fmtid="{D5CDD505-2E9C-101B-9397-08002B2CF9AE}" pid="4" name="MSIP_Label_2a5df9db-8b10-49ea-948f-f7d79516c205_Method">
    <vt:lpwstr>Standard</vt:lpwstr>
  </property>
  <property fmtid="{D5CDD505-2E9C-101B-9397-08002B2CF9AE}" pid="5" name="MSIP_Label_2a5df9db-8b10-49ea-948f-f7d79516c205_Name">
    <vt:lpwstr>Protégé</vt:lpwstr>
  </property>
  <property fmtid="{D5CDD505-2E9C-101B-9397-08002B2CF9AE}" pid="6" name="MSIP_Label_2a5df9db-8b10-49ea-948f-f7d79516c205_SiteId">
    <vt:lpwstr>b8c6ba48-bc56-4139-b267-5a17f287beb1</vt:lpwstr>
  </property>
  <property fmtid="{D5CDD505-2E9C-101B-9397-08002B2CF9AE}" pid="7" name="MSIP_Label_2a5df9db-8b10-49ea-948f-f7d79516c205_ActionId">
    <vt:lpwstr>0af0f9db-de37-4718-91ce-bdef208b7b6e</vt:lpwstr>
  </property>
  <property fmtid="{D5CDD505-2E9C-101B-9397-08002B2CF9AE}" pid="8" name="MSIP_Label_2a5df9db-8b10-49ea-948f-f7d79516c205_ContentBits">
    <vt:lpwstr>0</vt:lpwstr>
  </property>
  <property fmtid="{D5CDD505-2E9C-101B-9397-08002B2CF9AE}" pid="9" name="MSIP_Label_2a5df9db-8b10-49ea-948f-f7d79516c205_Tag">
    <vt:lpwstr>10, 3, 0, 1</vt:lpwstr>
  </property>
  <property fmtid="{D5CDD505-2E9C-101B-9397-08002B2CF9AE}" pid="10" name="ContentTypeId">
    <vt:lpwstr>0x010100666AD5E252C95C47BD53E7195C14775C</vt:lpwstr>
  </property>
</Properties>
</file>
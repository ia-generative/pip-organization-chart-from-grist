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9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12192000" cy="6858000"/>
  <p:defaultTextStyle>
    <a:defPPr>
      <a:defRPr lang="fr-FR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>
          <p15:clr>
            <a:srgbClr val="A4A3A4"/>
          </p15:clr>
        </p15:guide>
        <p15:guide id="2" orient="horz" pos="2160">
          <p15:clr>
            <a:srgbClr val="A4A3A4"/>
          </p15:clr>
        </p15:guide>
        <p15:guide id="3" pos="39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F3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1E4AEA4-8DFA-4A89-87EB-49C32662AFE0}"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lt1"/>
              </a:solidFill>
            </a:ln>
          </a:left>
          <a:right>
            <a:ln w="12700">
              <a:solidFill>
                <a:schemeClr val="lt1"/>
              </a:solidFill>
            </a:ln>
          </a:right>
          <a:top>
            <a:ln w="12700">
              <a:solidFill>
                <a:schemeClr val="lt1"/>
              </a:solidFill>
            </a:ln>
          </a:top>
          <a:bottom>
            <a:ln w="12700">
              <a:solidFill>
                <a:schemeClr val="lt1"/>
              </a:solidFill>
            </a:ln>
          </a:bottom>
          <a:insideH>
            <a:ln w="12700">
              <a:solidFill>
                <a:schemeClr val="lt1"/>
              </a:solidFill>
            </a:ln>
          </a:insideH>
          <a:insideV>
            <a:ln w="12700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  <a:fill>
          <a:solidFill>
            <a:schemeClr val="accent2">
              <a:tint val="40000"/>
            </a:schemeClr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38100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  <a:neCell>
      <a:tcStyle>
        <a:tcBdr/>
      </a:tcStyle>
    </a:neCell>
    <a:nwCell>
      <a:tcStyle>
        <a:tcBdr/>
      </a:tcStyle>
    </a:nwCell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lt1"/>
              </a:solidFill>
            </a:ln>
          </a:left>
          <a:right>
            <a:ln w="12700">
              <a:solidFill>
                <a:schemeClr val="lt1"/>
              </a:solidFill>
            </a:ln>
          </a:right>
          <a:top>
            <a:ln w="12700">
              <a:solidFill>
                <a:schemeClr val="lt1"/>
              </a:solidFill>
            </a:ln>
          </a:top>
          <a:bottom>
            <a:ln w="12700">
              <a:solidFill>
                <a:schemeClr val="lt1"/>
              </a:solidFill>
            </a:ln>
          </a:bottom>
          <a:insideH>
            <a:ln w="12700">
              <a:solidFill>
                <a:schemeClr val="lt1"/>
              </a:solidFill>
            </a:ln>
          </a:insideH>
          <a:insideV>
            <a:ln w="12700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  <a:fill>
          <a:solidFill>
            <a:schemeClr val="accent5">
              <a:tint val="40000"/>
            </a:schemeClr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38100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  <a:neCell>
      <a:tcStyle>
        <a:tcBdr/>
      </a:tcStyle>
    </a:neCell>
    <a:nwCell>
      <a:tcStyle>
        <a:tcBdr/>
      </a:tcStyle>
    </a:nwCell>
  </a:tblStyle>
  <a:tblStyle styleId="{93296810-A885-4BE3-A3E7-6D5BEEA58F35}" styleName="Style moyen 2 - Accentuation 6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lt1"/>
              </a:solidFill>
            </a:ln>
          </a:left>
          <a:right>
            <a:ln w="12700">
              <a:solidFill>
                <a:schemeClr val="lt1"/>
              </a:solidFill>
            </a:ln>
          </a:right>
          <a:top>
            <a:ln w="12700">
              <a:solidFill>
                <a:schemeClr val="lt1"/>
              </a:solidFill>
            </a:ln>
          </a:top>
          <a:bottom>
            <a:ln w="12700">
              <a:solidFill>
                <a:schemeClr val="lt1"/>
              </a:solidFill>
            </a:ln>
          </a:bottom>
          <a:insideH>
            <a:ln w="12700">
              <a:solidFill>
                <a:schemeClr val="lt1"/>
              </a:solidFill>
            </a:ln>
          </a:insideH>
          <a:insideV>
            <a:ln w="12700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  <a:fill>
          <a:solidFill>
            <a:schemeClr val="accent6">
              <a:tint val="40000"/>
            </a:schemeClr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38100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063"/>
    <p:restoredTop sz="94677"/>
  </p:normalViewPr>
  <p:slideViewPr>
    <p:cSldViewPr snapToGrid="0">
      <p:cViewPr varScale="1">
        <p:scale>
          <a:sx n="191" d="100"/>
          <a:sy n="191" d="100"/>
        </p:scale>
        <p:origin x="1992" y="488"/>
      </p:cViewPr>
      <p:guideLst>
        <p:guide pos="3840"/>
        <p:guide orient="horz" pos="2160"/>
        <p:guide pos="39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0142234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396561766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578880192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93914767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1343759025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2097872027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userDrawn="1">
  <p:cSld name="Disposition personnalisé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785548353" name="Groupe 2"/>
          <p:cNvGrpSpPr/>
          <p:nvPr userDrawn="1"/>
        </p:nvGrpSpPr>
        <p:grpSpPr bwMode="auto">
          <a:xfrm rot="10800000" flipH="1">
            <a:off x="10617516" y="1241468"/>
            <a:ext cx="745921" cy="1204125"/>
            <a:chOff x="10211504" y="1954198"/>
            <a:chExt cx="898661" cy="1455208"/>
          </a:xfrm>
          <a:solidFill>
            <a:schemeClr val="bg1"/>
          </a:solidFill>
        </p:grpSpPr>
        <p:sp>
          <p:nvSpPr>
            <p:cNvPr id="4" name="Ellipse 3"/>
            <p:cNvSpPr/>
            <p:nvPr/>
          </p:nvSpPr>
          <p:spPr bwMode="auto">
            <a:xfrm rot="10800000">
              <a:off x="10211504" y="1954198"/>
              <a:ext cx="275397" cy="28218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5" name="Rectangle 4"/>
            <p:cNvSpPr/>
            <p:nvPr/>
          </p:nvSpPr>
          <p:spPr bwMode="auto">
            <a:xfrm rot="10800000">
              <a:off x="11027961" y="2847022"/>
              <a:ext cx="82204" cy="562384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6" name="Rectangle 5"/>
            <p:cNvSpPr/>
            <p:nvPr/>
          </p:nvSpPr>
          <p:spPr bwMode="auto">
            <a:xfrm rot="8215894">
              <a:off x="10691582" y="1993282"/>
              <a:ext cx="82204" cy="1017628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  <p:grpSp>
        <p:nvGrpSpPr>
          <p:cNvPr id="415842668" name="Groupe 6"/>
          <p:cNvGrpSpPr/>
          <p:nvPr userDrawn="1"/>
        </p:nvGrpSpPr>
        <p:grpSpPr bwMode="auto">
          <a:xfrm rot="10800000" flipH="1">
            <a:off x="11039181" y="1241467"/>
            <a:ext cx="781680" cy="1562184"/>
            <a:chOff x="10168424" y="1910056"/>
            <a:chExt cx="941741" cy="1887928"/>
          </a:xfrm>
          <a:solidFill>
            <a:schemeClr val="bg1"/>
          </a:solidFill>
        </p:grpSpPr>
        <p:sp>
          <p:nvSpPr>
            <p:cNvPr id="8" name="Ellipse 7"/>
            <p:cNvSpPr/>
            <p:nvPr/>
          </p:nvSpPr>
          <p:spPr bwMode="auto">
            <a:xfrm rot="10800000">
              <a:off x="10168424" y="1910056"/>
              <a:ext cx="318477" cy="32633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9" name="Rectangle 8"/>
            <p:cNvSpPr/>
            <p:nvPr/>
          </p:nvSpPr>
          <p:spPr bwMode="auto">
            <a:xfrm rot="10800000">
              <a:off x="11027961" y="2847020"/>
              <a:ext cx="82204" cy="950964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0" name="Rectangle 9"/>
            <p:cNvSpPr/>
            <p:nvPr/>
          </p:nvSpPr>
          <p:spPr bwMode="auto">
            <a:xfrm rot="8215894">
              <a:off x="10691582" y="1993282"/>
              <a:ext cx="82204" cy="1017628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  <p:extLst>
      <p:ext uri="{BB962C8B-B14F-4D97-AF65-F5344CB8AC3E}">
        <p14:creationId xmlns:p14="http://schemas.microsoft.com/office/powerpoint/2010/main" val="2516703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2977662" y="2130426"/>
            <a:ext cx="8299938" cy="1470025"/>
          </a:xfrm>
        </p:spPr>
        <p:txBody>
          <a:bodyPr/>
          <a:lstStyle>
            <a:lvl1pPr>
              <a:defRPr>
                <a:latin typeface="Marianne" panose="02000000000000000000" pitchFamily="2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Marianne" panose="02000000000000000000" pitchFamily="2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8025162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re 5">
            <a:extLst>
              <a:ext uri="{FF2B5EF4-FFF2-40B4-BE49-F238E27FC236}">
                <a16:creationId xmlns:a16="http://schemas.microsoft.com/office/drawing/2014/main" id="{EFFE41C9-0429-D3C2-B05C-5FAAACF28F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6062" y="189278"/>
            <a:ext cx="9120553" cy="631337"/>
          </a:xfrm>
          <a:prstGeom prst="rect">
            <a:avLst/>
          </a:prstGeom>
        </p:spPr>
        <p:txBody>
          <a:bodyPr anchor="ctr"/>
          <a:lstStyle>
            <a:lvl1pPr>
              <a:defRPr sz="1800" b="1">
                <a:solidFill>
                  <a:srgbClr val="0070C0"/>
                </a:solidFill>
                <a:latin typeface="Marianne" panose="02000000000000000000" pitchFamily="2" charset="0"/>
              </a:defRPr>
            </a:lvl1pPr>
          </a:lstStyle>
          <a:p>
            <a:r>
              <a:rPr lang="fr-FR" dirty="0"/>
              <a:t>Modifiez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1788119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54199641" name="Image 7"/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/>
        </p:blipFill>
        <p:spPr bwMode="auto">
          <a:xfrm>
            <a:off x="10930115" y="368300"/>
            <a:ext cx="870649" cy="472085"/>
          </a:xfrm>
          <a:prstGeom prst="rect">
            <a:avLst/>
          </a:prstGeom>
        </p:spPr>
      </p:pic>
      <p:pic>
        <p:nvPicPr>
          <p:cNvPr id="1252485885" name="Image 8"/>
          <p:cNvPicPr>
            <a:picLocks noChangeAspect="1"/>
          </p:cNvPicPr>
          <p:nvPr userDrawn="1"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/>
        </p:blipFill>
        <p:spPr bwMode="auto">
          <a:xfrm>
            <a:off x="366117" y="124798"/>
            <a:ext cx="1166492" cy="889598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737" r:id="rId1"/>
    <p:sldLayoutId id="2147483739" r:id="rId2"/>
    <p:sldLayoutId id="2147483740" r:id="rId3"/>
  </p:sldLayoutIdLst>
  <p:hf sldNum="0" hdr="0" ftr="0"/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idx="4294967295"/>
          </p:nvPr>
        </p:nvSpPr>
        <p:spPr>
          <a:xfrm>
            <a:off x="2489570" y="1958975"/>
            <a:ext cx="8674100" cy="1470025"/>
          </a:xfrm>
        </p:spPr>
        <p:txBody>
          <a:bodyPr/>
          <a:lstStyle/>
          <a:p>
            <a:r>
              <a:rPr dirty="0">
                <a:latin typeface="Marianne" panose="02000000000000000000" pitchFamily="2" charset="0"/>
              </a:rPr>
              <a:t>PI Planning SDID – PI-10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4294967295"/>
          </p:nvPr>
        </p:nvSpPr>
        <p:spPr>
          <a:xfrm>
            <a:off x="2489570" y="3859502"/>
            <a:ext cx="8534400" cy="1752600"/>
          </a:xfrm>
        </p:spPr>
        <p:txBody>
          <a:bodyPr/>
          <a:lstStyle/>
          <a:p>
            <a:r>
              <a:rPr dirty="0" err="1">
                <a:latin typeface="Marianne" panose="02000000000000000000" pitchFamily="2" charset="0"/>
              </a:rPr>
              <a:t>Synthèse</a:t>
            </a:r>
            <a:r>
              <a:rPr dirty="0">
                <a:latin typeface="Marianne" panose="02000000000000000000" pitchFamily="2" charset="0"/>
              </a:rPr>
              <a:t> </a:t>
            </a:r>
            <a:r>
              <a:rPr dirty="0" err="1">
                <a:latin typeface="Marianne" panose="02000000000000000000" pitchFamily="2" charset="0"/>
              </a:rPr>
              <a:t>automatique</a:t>
            </a:r>
            <a:r>
              <a:rPr dirty="0">
                <a:latin typeface="Marianne" panose="02000000000000000000" pitchFamily="2" charset="0"/>
              </a:rPr>
              <a:t> (équipes / epics / features / fragmentation)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555870" y="3112867"/>
            <a:ext cx="2739853" cy="14465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dirty="0" err="1">
                <a:latin typeface="Marianne" panose="02000000000000000000" pitchFamily="2" charset="0"/>
              </a:rPr>
              <a:t>Indicateurs</a:t>
            </a:r>
            <a:r>
              <a:rPr dirty="0">
                <a:latin typeface="Marianne" panose="02000000000000000000" pitchFamily="2" charset="0"/>
              </a:rPr>
              <a:t> </a:t>
            </a:r>
            <a:r>
              <a:rPr dirty="0" err="1">
                <a:latin typeface="Marianne" panose="02000000000000000000" pitchFamily="2" charset="0"/>
              </a:rPr>
              <a:t>clés</a:t>
            </a:r>
            <a:endParaRPr dirty="0">
              <a:latin typeface="Marianne" panose="02000000000000000000" pitchFamily="2" charset="0"/>
            </a:endParaRPr>
          </a:p>
          <a:p>
            <a:pPr lvl="1">
              <a:defRPr sz="1400"/>
            </a:pPr>
            <a:r>
              <a:rPr sz="1400" dirty="0">
                <a:latin typeface="Marianne" panose="02000000000000000000" pitchFamily="2" charset="0"/>
              </a:rPr>
              <a:t>Équipes : 0</a:t>
            </a:r>
          </a:p>
          <a:p>
            <a:pPr lvl="1">
              <a:defRPr sz="1400"/>
            </a:pPr>
            <a:r>
              <a:rPr sz="1400" dirty="0">
                <a:latin typeface="Marianne" panose="02000000000000000000" pitchFamily="2" charset="0"/>
              </a:rPr>
              <a:t>Epics : 0 (</a:t>
            </a:r>
            <a:r>
              <a:rPr sz="1400" dirty="0" err="1">
                <a:latin typeface="Marianne" panose="02000000000000000000" pitchFamily="2" charset="0"/>
              </a:rPr>
              <a:t>séparées</a:t>
            </a:r>
            <a:r>
              <a:rPr sz="1400" dirty="0">
                <a:latin typeface="Marianne" panose="02000000000000000000" pitchFamily="2" charset="0"/>
              </a:rPr>
              <a:t> : 0)</a:t>
            </a:r>
          </a:p>
          <a:p>
            <a:pPr lvl="1">
              <a:defRPr sz="1400"/>
            </a:pPr>
            <a:r>
              <a:rPr sz="1400" dirty="0">
                <a:latin typeface="Marianne" panose="02000000000000000000" pitchFamily="2" charset="0"/>
              </a:rPr>
              <a:t>Features (PI) : 0</a:t>
            </a:r>
          </a:p>
          <a:p>
            <a:pPr lvl="1">
              <a:defRPr sz="1400"/>
            </a:pPr>
            <a:r>
              <a:rPr sz="1400" dirty="0">
                <a:latin typeface="Marianne" panose="02000000000000000000" pitchFamily="2" charset="0"/>
              </a:rPr>
              <a:t>Agents multi-équipes : 0</a:t>
            </a:r>
          </a:p>
          <a:p>
            <a:pPr lvl="1">
              <a:defRPr sz="1400"/>
            </a:pPr>
            <a:r>
              <a:rPr sz="1400" dirty="0">
                <a:latin typeface="Marianne" panose="02000000000000000000" pitchFamily="2" charset="0"/>
              </a:rPr>
              <a:t>Agents &gt;100% : 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22616" y="5188721"/>
            <a:ext cx="4911922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dirty="0">
                <a:latin typeface="Marianne" panose="02000000000000000000" pitchFamily="2" charset="0"/>
              </a:rPr>
              <a:t>Ambition PI (extraits)</a:t>
            </a:r>
          </a:p>
          <a:p>
            <a:pPr lvl="1">
              <a:defRPr sz="1400"/>
            </a:pPr>
            <a:r>
              <a:rPr sz="1400" dirty="0" err="1">
                <a:latin typeface="Marianne" panose="02000000000000000000" pitchFamily="2" charset="0"/>
              </a:rPr>
              <a:t>Aucune</a:t>
            </a:r>
            <a:r>
              <a:rPr sz="1400" dirty="0">
                <a:latin typeface="Marianne" panose="02000000000000000000" pitchFamily="2" charset="0"/>
              </a:rPr>
              <a:t> epic </a:t>
            </a:r>
            <a:r>
              <a:rPr sz="1400" dirty="0" err="1">
                <a:latin typeface="Marianne" panose="02000000000000000000" pitchFamily="2" charset="0"/>
              </a:rPr>
              <a:t>détectée</a:t>
            </a:r>
            <a:r>
              <a:rPr sz="1400" dirty="0">
                <a:latin typeface="Marianne" panose="02000000000000000000" pitchFamily="2" charset="0"/>
              </a:rPr>
              <a:t> pour </a:t>
            </a:r>
            <a:r>
              <a:rPr sz="1400" dirty="0" err="1">
                <a:latin typeface="Marianne" panose="02000000000000000000" pitchFamily="2" charset="0"/>
              </a:rPr>
              <a:t>ce</a:t>
            </a:r>
            <a:r>
              <a:rPr sz="1400" dirty="0">
                <a:latin typeface="Marianne" panose="02000000000000000000" pitchFamily="2" charset="0"/>
              </a:rPr>
              <a:t> PI / template vide.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30EC3E73-196C-A30A-BE46-CACA9FC5945B}"/>
              </a:ext>
            </a:extLst>
          </p:cNvPr>
          <p:cNvSpPr txBox="1"/>
          <p:nvPr/>
        </p:nvSpPr>
        <p:spPr>
          <a:xfrm>
            <a:off x="2696033" y="446526"/>
            <a:ext cx="60971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solidFill>
                  <a:srgbClr val="0070C0"/>
                </a:solidFill>
                <a:latin typeface="Marianne" panose="02000000000000000000" pitchFamily="2" charset="0"/>
              </a:rPr>
              <a:t>PLANCHE DE SYNTHÈSE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dirty="0">
                <a:latin typeface="Marianne" panose="02000000000000000000" pitchFamily="2" charset="0"/>
              </a:rPr>
              <a:t>Vue </a:t>
            </a:r>
            <a:r>
              <a:rPr dirty="0" err="1">
                <a:latin typeface="Marianne" panose="02000000000000000000" pitchFamily="2" charset="0"/>
              </a:rPr>
              <a:t>organisationnelle</a:t>
            </a:r>
            <a:r>
              <a:rPr dirty="0">
                <a:latin typeface="Marianne" panose="02000000000000000000" pitchFamily="2" charset="0"/>
              </a:rPr>
              <a:t> (équipes → epics → features)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48846" y="2057068"/>
            <a:ext cx="1244251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dirty="0">
                <a:latin typeface="Marianne" panose="02000000000000000000" pitchFamily="2" charset="0"/>
              </a:rPr>
              <a:t>Structure</a:t>
            </a:r>
          </a:p>
          <a:p>
            <a:pPr lvl="1">
              <a:defRPr sz="1400"/>
            </a:pPr>
            <a:r>
              <a:rPr sz="1400" dirty="0">
                <a:latin typeface="Marianne" panose="02000000000000000000" pitchFamily="2" charset="0"/>
              </a:rPr>
              <a:t>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4_Diapositive vierg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Première page titr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2398</TotalTime>
  <Words>74</Words>
  <Application>Microsoft Macintosh PowerPoint</Application>
  <DocSecurity>0</DocSecurity>
  <PresentationFormat>Grand écran</PresentationFormat>
  <Paragraphs>14</Paragraphs>
  <Slides>3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</vt:i4>
      </vt:variant>
    </vt:vector>
  </HeadingPairs>
  <TitlesOfParts>
    <vt:vector size="7" baseType="lpstr">
      <vt:lpstr>Arial</vt:lpstr>
      <vt:lpstr>Calibri</vt:lpstr>
      <vt:lpstr>Marianne</vt:lpstr>
      <vt:lpstr>4_Diapositive vierge</vt:lpstr>
      <vt:lpstr>PI Planning SDID – PI-10</vt:lpstr>
      <vt:lpstr>Présentation PowerPoint</vt:lpstr>
      <vt:lpstr>Vue organisationnelle (équipes → epics → features)</vt:lpstr>
    </vt:vector>
  </TitlesOfParts>
  <Manager/>
  <Company>DSIC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subject/>
  <dc:creator>SALAH Ilias</dc:creator>
  <cp:keywords/>
  <dc:description/>
  <cp:lastModifiedBy>Eric TIQUET</cp:lastModifiedBy>
  <cp:revision>371</cp:revision>
  <dcterms:created xsi:type="dcterms:W3CDTF">2024-04-18T14:17:38Z</dcterms:created>
  <dcterms:modified xsi:type="dcterms:W3CDTF">2026-02-22T12:24:12Z</dcterms:modified>
  <cp:category/>
  <dc:identifier/>
  <cp:contentStatus/>
  <dc:language/>
  <cp:vers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2a5df9db-8b10-49ea-948f-f7d79516c205_Enabled">
    <vt:lpwstr>true</vt:lpwstr>
  </property>
  <property fmtid="{D5CDD505-2E9C-101B-9397-08002B2CF9AE}" pid="3" name="MSIP_Label_2a5df9db-8b10-49ea-948f-f7d79516c205_SetDate">
    <vt:lpwstr>2025-11-24T10:24:03Z</vt:lpwstr>
  </property>
  <property fmtid="{D5CDD505-2E9C-101B-9397-08002B2CF9AE}" pid="4" name="MSIP_Label_2a5df9db-8b10-49ea-948f-f7d79516c205_Method">
    <vt:lpwstr>Standard</vt:lpwstr>
  </property>
  <property fmtid="{D5CDD505-2E9C-101B-9397-08002B2CF9AE}" pid="5" name="MSIP_Label_2a5df9db-8b10-49ea-948f-f7d79516c205_Name">
    <vt:lpwstr>Protégé</vt:lpwstr>
  </property>
  <property fmtid="{D5CDD505-2E9C-101B-9397-08002B2CF9AE}" pid="6" name="MSIP_Label_2a5df9db-8b10-49ea-948f-f7d79516c205_SiteId">
    <vt:lpwstr>b8c6ba48-bc56-4139-b267-5a17f287beb1</vt:lpwstr>
  </property>
  <property fmtid="{D5CDD505-2E9C-101B-9397-08002B2CF9AE}" pid="7" name="MSIP_Label_2a5df9db-8b10-49ea-948f-f7d79516c205_ActionId">
    <vt:lpwstr>0af0f9db-de37-4718-91ce-bdef208b7b6e</vt:lpwstr>
  </property>
  <property fmtid="{D5CDD505-2E9C-101B-9397-08002B2CF9AE}" pid="8" name="MSIP_Label_2a5df9db-8b10-49ea-948f-f7d79516c205_ContentBits">
    <vt:lpwstr>0</vt:lpwstr>
  </property>
  <property fmtid="{D5CDD505-2E9C-101B-9397-08002B2CF9AE}" pid="9" name="MSIP_Label_2a5df9db-8b10-49ea-948f-f7d79516c205_Tag">
    <vt:lpwstr>10, 3, 0, 1</vt:lpwstr>
  </property>
  <property fmtid="{D5CDD505-2E9C-101B-9397-08002B2CF9AE}" pid="10" name="ContentTypeId">
    <vt:lpwstr>0x010100666AD5E252C95C47BD53E7195C14775C</vt:lpwstr>
  </property>
</Properties>
</file>